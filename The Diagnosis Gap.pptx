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66866"/>
                </a:solidFill>
                <a:latin typeface="Consolas"/>
              </a:rPr>
              <a:t>HIP OPS · INCIDENT RESPONSE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6775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66866"/>
                </a:solidFill>
                <a:latin typeface="Consolas"/>
              </a:rPr>
              <a:t>01 / 02 —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10201E"/>
                </a:solidFill>
                <a:latin typeface="Arial Narrow"/>
              </a:rPr>
              <a:t>Detection is solved.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10201E"/>
                </a:solidFill>
                <a:latin typeface="Arial Narrow"/>
              </a:rPr>
              <a:t>Diagnosis still takes </a:t>
            </a:r>
            <a:r>
              <a:rPr sz="4000" b="1" i="0">
                <a:solidFill>
                  <a:srgbClr val="C8431C"/>
                </a:solidFill>
                <a:latin typeface="Arial Narrow"/>
              </a:rPr>
              <a:t>hours</a:t>
            </a:r>
            <a:r>
              <a:rPr sz="4000" b="1" i="0">
                <a:solidFill>
                  <a:srgbClr val="10201E"/>
                </a:solidFill>
                <a:latin typeface="Arial Narrow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 i="0">
                <a:solidFill>
                  <a:srgbClr val="10201E"/>
                </a:solidFill>
                <a:latin typeface="Georgia"/>
              </a:rPr>
              <a:t>HIP's monitoring rules already catch what breaks. What they can't do is turn a wall of correct alerts into one agreed cause while the bridge call is running — here's what that looked like once: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063240"/>
            <a:ext cx="1118585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A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91256"/>
            <a:ext cx="33994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E3AE99"/>
                </a:solidFill>
                <a:latin typeface="Consolas"/>
              </a:rPr>
              <a:t>00:00 — SILENCE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83864"/>
            <a:ext cx="339943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C8431C"/>
                </a:solidFill>
                <a:latin typeface="Georgia"/>
              </a:rPr>
              <a:t>SAP listener hangs. Nothing arrives. No threshold crosses, so no rule fires.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1538" y="3063240"/>
            <a:ext cx="1" cy="123444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4418" y="3191256"/>
            <a:ext cx="33994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E3AE99"/>
                </a:solidFill>
                <a:latin typeface="Consolas"/>
              </a:rPr>
              <a:t>+60 MIN — ONE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418" y="3483864"/>
            <a:ext cx="339943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C8431C"/>
                </a:solidFill>
                <a:latin typeface="Georgia"/>
              </a:rPr>
              <a:t>The only rule watching finally fires — SAP-to-warehouse deliveries have already stopped.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60156" y="3063240"/>
            <a:ext cx="1" cy="123444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3036" y="3191256"/>
            <a:ext cx="33994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E3AE99"/>
                </a:solidFill>
                <a:latin typeface="Consolas"/>
              </a:rPr>
              <a:t>NEXT — THE FIX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3483864"/>
            <a:ext cx="339943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C8431C"/>
                </a:solidFill>
                <a:latin typeface="Georgia"/>
              </a:rPr>
              <a:t>Standard playbook: replay. It does nothing — the listener itself never came 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526280"/>
            <a:ext cx="111858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65429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C8431C"/>
                </a:solidFill>
                <a:latin typeface="Arial Narrow"/>
              </a:rPr>
              <a:t>3,118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5093208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566866"/>
                </a:solidFill>
                <a:latin typeface="Consolas"/>
              </a:rPr>
              <a:t>incidents logged, Jun–Aug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1538" y="4526280"/>
            <a:ext cx="1" cy="105156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6130" y="465429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C8431C"/>
                </a:solidFill>
                <a:latin typeface="Arial Narrow"/>
              </a:rPr>
              <a:t>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6130" y="5093208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566866"/>
                </a:solidFill>
                <a:latin typeface="Consolas"/>
              </a:rPr>
              <a:t>raised automatically — detection is not the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0156" y="4526280"/>
            <a:ext cx="1" cy="105156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4748" y="465429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C8431C"/>
                </a:solidFill>
                <a:latin typeface="Arial Narrow"/>
              </a:rPr>
              <a:t>6.6h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748" y="5093208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566866"/>
                </a:solidFill>
                <a:latin typeface="Consolas"/>
              </a:rPr>
              <a:t>median time a ticket stays open before it's resolved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989320"/>
            <a:ext cx="11185855" cy="1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108192"/>
            <a:ext cx="777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0201E"/>
                </a:solidFill>
                <a:latin typeface="Arial Narrow"/>
              </a:rPr>
              <a:t>Rules answer </a:t>
            </a:r>
            <a:r>
              <a:rPr sz="1500" b="1" i="1">
                <a:solidFill>
                  <a:srgbClr val="10201E"/>
                </a:solidFill>
                <a:latin typeface="Arial Narrow"/>
              </a:rPr>
              <a:t>what</a:t>
            </a:r>
            <a:r>
              <a:rPr sz="1500" b="1" i="0">
                <a:solidFill>
                  <a:srgbClr val="10201E"/>
                </a:solidFill>
                <a:latin typeface="Arial Narrow"/>
              </a:rPr>
              <a:t> is wrong. Nobody has automated </a:t>
            </a:r>
            <a:r>
              <a:rPr sz="1500" b="1" i="1">
                <a:solidFill>
                  <a:srgbClr val="10201E"/>
                </a:solidFill>
                <a:latin typeface="Arial Narrow"/>
              </a:rPr>
              <a:t>why</a:t>
            </a:r>
            <a:r>
              <a:rPr sz="1500" b="1" i="0">
                <a:solidFill>
                  <a:srgbClr val="10201E"/>
                </a:solidFill>
                <a:latin typeface="Arial Narrow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6775" y="6172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66866"/>
                </a:solidFill>
                <a:latin typeface="Consolas"/>
              </a:rPr>
              <a:t>Data: synthesized from the 3-month HIP incident export, Jun–Aug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66866"/>
                </a:solidFill>
                <a:latin typeface="Consolas"/>
              </a:rPr>
              <a:t>HIP OPS · INCIDENT RESPONSE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6775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66866"/>
                </a:solidFill>
                <a:latin typeface="Consolas"/>
              </a:rPr>
              <a:t>02 / 02 —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6858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400" b="1" i="0">
                <a:solidFill>
                  <a:srgbClr val="10201E"/>
                </a:solidFill>
                <a:latin typeface="Arial Narrow"/>
              </a:rPr>
              <a:t>Your rules are the </a:t>
            </a:r>
            <a:r>
              <a:rPr sz="3400" b="1" i="0">
                <a:solidFill>
                  <a:srgbClr val="566866"/>
                </a:solidFill>
                <a:latin typeface="Arial Narrow"/>
              </a:rPr>
              <a:t>sensors</a:t>
            </a:r>
            <a:r>
              <a:rPr sz="3400" b="1" i="0">
                <a:solidFill>
                  <a:srgbClr val="10201E"/>
                </a:solidFill>
                <a:latin typeface="Arial Narrow"/>
              </a:rPr>
              <a:t>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400" b="1" i="0">
                <a:solidFill>
                  <a:srgbClr val="10201E"/>
                </a:solidFill>
                <a:latin typeface="Arial Narrow"/>
              </a:rPr>
              <a:t>This is the </a:t>
            </a:r>
            <a:r>
              <a:rPr sz="3400" b="1" i="0">
                <a:solidFill>
                  <a:srgbClr val="0E8577"/>
                </a:solidFill>
                <a:latin typeface="Arial Narrow"/>
              </a:rPr>
              <a:t>analyst</a:t>
            </a:r>
            <a:r>
              <a:rPr sz="3400" b="1" i="0">
                <a:solidFill>
                  <a:srgbClr val="10201E"/>
                </a:solidFill>
                <a:latin typeface="Arial Narrow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10201E"/>
                </a:solidFill>
                <a:latin typeface="Georgia"/>
              </a:rPr>
              <a:t>An AI layer reads what the rules already found, plus the logs and records around them — it never replaces a rule and never re-detects. It turns the alert wall into one ranked, evidence-cited answer, before the bridge call starts.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713232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66866"/>
                </a:solidFill>
                <a:latin typeface="Consolas"/>
              </a:rPr>
              <a:t>40+ alerts, one shift → 1 ranked answer, evidence cited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051560"/>
            <a:ext cx="4069080" cy="777240"/>
          </a:xfrm>
          <a:prstGeom prst="rect">
            <a:avLst/>
          </a:prstGeom>
          <a:solidFill>
            <a:srgbClr val="E1F0EE"/>
          </a:solidFill>
          <a:ln w="12700">
            <a:solidFill>
              <a:srgbClr val="9C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9832" y="1133856"/>
            <a:ext cx="3739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0E8577"/>
                </a:solidFill>
                <a:latin typeface="Consolas"/>
              </a:rPr>
              <a:t>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2" y="1389888"/>
            <a:ext cx="3739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0201E"/>
                </a:solidFill>
                <a:latin typeface="Arial Narrow"/>
              </a:rPr>
              <a:t>AI correlation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92024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2" y="2002536"/>
            <a:ext cx="3739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66866"/>
                </a:solidFill>
                <a:latin typeface="Consolas"/>
              </a:rPr>
              <a:t>INPUT · UNCHANGED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2" y="2258568"/>
            <a:ext cx="3739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0201E"/>
                </a:solidFill>
                <a:latin typeface="Arial Narrow"/>
              </a:rPr>
              <a:t>Detection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78892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2" y="2871216"/>
            <a:ext cx="3739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66866"/>
                </a:solidFill>
                <a:latin typeface="Consolas"/>
              </a:rPr>
              <a:t>BASE ·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2" y="3127248"/>
            <a:ext cx="3739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0201E"/>
                </a:solidFill>
                <a:latin typeface="Arial Narrow"/>
              </a:rPr>
              <a:t>Production estate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111858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922776"/>
            <a:ext cx="1944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0E8577"/>
                </a:solidFill>
                <a:latin typeface="Arial Narrow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361688"/>
            <a:ext cx="1944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566866"/>
                </a:solidFill>
                <a:latin typeface="Consolas"/>
              </a:rPr>
              <a:t>synthetic scenarios, built from the client's own error strings and naming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0091" y="3794760"/>
            <a:ext cx="1" cy="105156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4683" y="3922776"/>
            <a:ext cx="1944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0E8577"/>
                </a:solidFill>
                <a:latin typeface="Arial Narrow"/>
              </a:rPr>
              <a:t>138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4683" y="4361688"/>
            <a:ext cx="1944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566866"/>
                </a:solidFill>
                <a:latin typeface="Consolas"/>
              </a:rPr>
              <a:t>real June 2026 incidents replayed live in Live mode, redacted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7262" y="3794760"/>
            <a:ext cx="1" cy="105156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1854" y="3922776"/>
            <a:ext cx="1944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0E8577"/>
                </a:solidFill>
                <a:latin typeface="Arial Narrow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1854" y="4361688"/>
            <a:ext cx="1944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566866"/>
                </a:solidFill>
                <a:latin typeface="Consolas"/>
              </a:rPr>
              <a:t>approval gate — no recovery action runs without a named sign-off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14433" y="3794760"/>
            <a:ext cx="1" cy="105156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025" y="3922776"/>
            <a:ext cx="1944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0E8577"/>
                </a:solidFill>
                <a:latin typeface="Arial Narrow"/>
              </a:rPr>
              <a:t>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025" y="4361688"/>
            <a:ext cx="1944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566866"/>
                </a:solidFill>
                <a:latin typeface="Consolas"/>
              </a:rPr>
              <a:t>real Critical/Major incidents with written root causes, ready to test against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51604" y="3794760"/>
            <a:ext cx="1" cy="105156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6196" y="3922776"/>
            <a:ext cx="1944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0E8577"/>
                </a:solidFill>
                <a:latin typeface="Arial Narrow"/>
              </a:rP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6196" y="4361688"/>
            <a:ext cx="1944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566866"/>
                </a:solidFill>
                <a:latin typeface="Consolas"/>
              </a:rPr>
              <a:t>deployed now on Azure AI Foundry (gpt-5), running on a shared VM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074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66866"/>
                </a:solidFill>
                <a:latin typeface="Consolas"/>
              </a:rPr>
              <a:t>HOW THE ANSWER GETS BUILT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394960"/>
            <a:ext cx="111858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22976"/>
            <a:ext cx="2467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9CD2CB"/>
                </a:solidFill>
                <a:latin typeface="Consolas"/>
              </a:rPr>
              <a:t>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815584"/>
            <a:ext cx="2467279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0E8577"/>
                </a:solidFill>
                <a:latin typeface="Georgia"/>
              </a:rPr>
              <a:t>Code lines up exactly what happened, straight from the logs. No guessing yet.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9383" y="5394960"/>
            <a:ext cx="1" cy="105156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82263" y="5522976"/>
            <a:ext cx="2467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9CD2CB"/>
                </a:solidFill>
                <a:latin typeface="Consolas"/>
              </a:rPr>
              <a:t>THEN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82263" y="5815584"/>
            <a:ext cx="2467279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0E8577"/>
                </a:solidFill>
                <a:latin typeface="Georgia"/>
              </a:rPr>
              <a:t>The AI suggests likely causes, each with reasons for it and reasons against it.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5846" y="5394960"/>
            <a:ext cx="1" cy="105156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8726" y="5522976"/>
            <a:ext cx="2467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9CD2CB"/>
                </a:solidFill>
                <a:latin typeface="Consolas"/>
              </a:rPr>
              <a:t>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8726" y="5815584"/>
            <a:ext cx="2467279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0E8577"/>
                </a:solidFill>
                <a:latin typeface="Georgia"/>
              </a:rPr>
              <a:t>It lists what to check first — easiest and most telling checks at the top.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2309" y="5394960"/>
            <a:ext cx="1" cy="1051560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5189" y="5522976"/>
            <a:ext cx="2467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9CD2CB"/>
                </a:solidFill>
                <a:latin typeface="Consolas"/>
              </a:rPr>
              <a:t>LAST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5189" y="5815584"/>
            <a:ext cx="2467279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0E8577"/>
                </a:solidFill>
                <a:latin typeface="Georgia"/>
              </a:rPr>
              <a:t>It proposes a fix. Nothing runs until a person approves it.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583680"/>
            <a:ext cx="11185855" cy="1"/>
          </a:xfrm>
          <a:prstGeom prst="rect">
            <a:avLst/>
          </a:prstGeom>
          <a:solidFill>
            <a:srgbClr val="D7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65683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66866"/>
                </a:solidFill>
                <a:latin typeface="Consolas"/>
              </a:rPr>
              <a:t>Data: synthesized from the 3-month HIP incident export, Jun–Aug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